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4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ts val="6859"/>
              </a:lnSpc>
            </a:pPr>
            <a:r>
              <a:rPr lang="en-US" b="1" dirty="0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Power BI Dashboard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B98A8E-3265-22CD-B93D-A1B7BA2F33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18745"/>
            <a:ext cx="8229600" cy="4488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A750B2-3B70-8A7F-DCC2-A74F07F86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624053"/>
            <a:ext cx="3387213" cy="8750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JAGI PRADIP RAO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pradip.jagi@gmail.com</a:t>
            </a:r>
          </a:p>
          <a:p>
            <a:pPr marL="0" indent="0">
              <a:buNone/>
            </a:pPr>
            <a:endParaRPr lang="en-IN" dirty="0"/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8F3DAB60-15E6-B3A2-75DE-F6F08A8BDF6E}"/>
              </a:ext>
            </a:extLst>
          </p:cNvPr>
          <p:cNvGrpSpPr/>
          <p:nvPr/>
        </p:nvGrpSpPr>
        <p:grpSpPr>
          <a:xfrm>
            <a:off x="6331973" y="988985"/>
            <a:ext cx="2674375" cy="2712017"/>
            <a:chOff x="0" y="0"/>
            <a:chExt cx="1257272" cy="1274980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815FE723-4E5A-EECC-3429-06B1BAF32322}"/>
                </a:ext>
              </a:extLst>
            </p:cNvPr>
            <p:cNvSpPr/>
            <p:nvPr/>
          </p:nvSpPr>
          <p:spPr>
            <a:xfrm>
              <a:off x="0" y="0"/>
              <a:ext cx="1257272" cy="1274980"/>
            </a:xfrm>
            <a:custGeom>
              <a:avLst/>
              <a:gdLst/>
              <a:ahLst/>
              <a:cxnLst/>
              <a:rect l="l" t="t" r="r" b="b"/>
              <a:pathLst>
                <a:path w="1257272" h="1274980">
                  <a:moveTo>
                    <a:pt x="42215" y="0"/>
                  </a:moveTo>
                  <a:lnTo>
                    <a:pt x="1215058" y="0"/>
                  </a:lnTo>
                  <a:cubicBezTo>
                    <a:pt x="1238372" y="0"/>
                    <a:pt x="1257272" y="18900"/>
                    <a:pt x="1257272" y="42215"/>
                  </a:cubicBezTo>
                  <a:lnTo>
                    <a:pt x="1257272" y="1232766"/>
                  </a:lnTo>
                  <a:cubicBezTo>
                    <a:pt x="1257272" y="1243962"/>
                    <a:pt x="1252825" y="1254699"/>
                    <a:pt x="1244908" y="1262616"/>
                  </a:cubicBezTo>
                  <a:cubicBezTo>
                    <a:pt x="1236991" y="1270533"/>
                    <a:pt x="1226254" y="1274980"/>
                    <a:pt x="1215058" y="1274980"/>
                  </a:cubicBezTo>
                  <a:lnTo>
                    <a:pt x="42215" y="1274980"/>
                  </a:lnTo>
                  <a:cubicBezTo>
                    <a:pt x="18900" y="1274980"/>
                    <a:pt x="0" y="1256080"/>
                    <a:pt x="0" y="1232766"/>
                  </a:cubicBezTo>
                  <a:lnTo>
                    <a:pt x="0" y="42215"/>
                  </a:lnTo>
                  <a:cubicBezTo>
                    <a:pt x="0" y="31019"/>
                    <a:pt x="4448" y="20281"/>
                    <a:pt x="12364" y="12364"/>
                  </a:cubicBezTo>
                  <a:cubicBezTo>
                    <a:pt x="20281" y="4448"/>
                    <a:pt x="31019" y="0"/>
                    <a:pt x="42215" y="0"/>
                  </a:cubicBezTo>
                  <a:close/>
                </a:path>
              </a:pathLst>
            </a:custGeom>
            <a:blipFill>
              <a:blip r:embed="rId2"/>
              <a:stretch>
                <a:fillRect l="-25987" r="-25987"/>
              </a:stretch>
            </a:blipFill>
          </p:spPr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8F4024B-EF7F-635A-33FC-B4EC1A255019}"/>
              </a:ext>
            </a:extLst>
          </p:cNvPr>
          <p:cNvSpPr txBox="1"/>
          <p:nvPr/>
        </p:nvSpPr>
        <p:spPr>
          <a:xfrm>
            <a:off x="648929" y="3204227"/>
            <a:ext cx="41197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CC0D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BI DASHBOARD PROJECT</a:t>
            </a:r>
          </a:p>
          <a:p>
            <a:endParaRPr lang="en-IN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895305-1D2E-19F4-4A13-EFAC5C704EC3}"/>
              </a:ext>
            </a:extLst>
          </p:cNvPr>
          <p:cNvSpPr txBox="1"/>
          <p:nvPr/>
        </p:nvSpPr>
        <p:spPr>
          <a:xfrm>
            <a:off x="648929" y="1408543"/>
            <a:ext cx="55748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70C0"/>
                </a:solidFill>
              </a:rPr>
              <a:t>SAKILA MOVIE RENTAL STORE DATA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606" y="422122"/>
            <a:ext cx="4992329" cy="757749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INTRODUCTION</a:t>
            </a:r>
            <a:endParaRPr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6255BD-6F5D-2E78-3425-A1E0DFDEAD0D}"/>
              </a:ext>
            </a:extLst>
          </p:cNvPr>
          <p:cNvSpPr txBox="1"/>
          <p:nvPr/>
        </p:nvSpPr>
        <p:spPr>
          <a:xfrm>
            <a:off x="760770" y="4405721"/>
            <a:ext cx="4572000" cy="548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A6FFA0-FAC3-9A2B-9D40-CCAEB95E3BD3}"/>
              </a:ext>
            </a:extLst>
          </p:cNvPr>
          <p:cNvSpPr txBox="1"/>
          <p:nvPr/>
        </p:nvSpPr>
        <p:spPr>
          <a:xfrm>
            <a:off x="760770" y="5083277"/>
            <a:ext cx="38112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This provides insights into customer behaviour, average revenue, most rented films, rental duration, sales, staff analysis.</a:t>
            </a:r>
          </a:p>
        </p:txBody>
      </p:sp>
      <p:grpSp>
        <p:nvGrpSpPr>
          <p:cNvPr id="13" name="Group 2">
            <a:extLst>
              <a:ext uri="{FF2B5EF4-FFF2-40B4-BE49-F238E27FC236}">
                <a16:creationId xmlns:a16="http://schemas.microsoft.com/office/drawing/2014/main" id="{90809258-9200-A953-661D-E0DC57F25E87}"/>
              </a:ext>
            </a:extLst>
          </p:cNvPr>
          <p:cNvGrpSpPr/>
          <p:nvPr/>
        </p:nvGrpSpPr>
        <p:grpSpPr>
          <a:xfrm>
            <a:off x="4752869" y="1658358"/>
            <a:ext cx="3919183" cy="3523241"/>
            <a:chOff x="0" y="0"/>
            <a:chExt cx="1477246" cy="1274980"/>
          </a:xfrm>
        </p:grpSpPr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0CDE97DA-95BD-92A5-CDE7-86E5805A1C70}"/>
                </a:ext>
              </a:extLst>
            </p:cNvPr>
            <p:cNvSpPr/>
            <p:nvPr/>
          </p:nvSpPr>
          <p:spPr>
            <a:xfrm>
              <a:off x="0" y="0"/>
              <a:ext cx="1477246" cy="1274980"/>
            </a:xfrm>
            <a:custGeom>
              <a:avLst/>
              <a:gdLst/>
              <a:ahLst/>
              <a:cxnLst/>
              <a:rect l="l" t="t" r="r" b="b"/>
              <a:pathLst>
                <a:path w="1477246" h="1274980">
                  <a:moveTo>
                    <a:pt x="32477" y="0"/>
                  </a:moveTo>
                  <a:lnTo>
                    <a:pt x="1444768" y="0"/>
                  </a:lnTo>
                  <a:cubicBezTo>
                    <a:pt x="1462705" y="0"/>
                    <a:pt x="1477246" y="14541"/>
                    <a:pt x="1477246" y="32477"/>
                  </a:cubicBezTo>
                  <a:lnTo>
                    <a:pt x="1477246" y="1242503"/>
                  </a:lnTo>
                  <a:cubicBezTo>
                    <a:pt x="1477246" y="1260440"/>
                    <a:pt x="1462705" y="1274980"/>
                    <a:pt x="1444768" y="1274980"/>
                  </a:cubicBezTo>
                  <a:lnTo>
                    <a:pt x="32477" y="1274980"/>
                  </a:lnTo>
                  <a:cubicBezTo>
                    <a:pt x="14541" y="1274980"/>
                    <a:pt x="0" y="1260440"/>
                    <a:pt x="0" y="1242503"/>
                  </a:cubicBezTo>
                  <a:lnTo>
                    <a:pt x="0" y="32477"/>
                  </a:lnTo>
                  <a:cubicBezTo>
                    <a:pt x="0" y="14541"/>
                    <a:pt x="14541" y="0"/>
                    <a:pt x="32477" y="0"/>
                  </a:cubicBezTo>
                  <a:close/>
                </a:path>
              </a:pathLst>
            </a:custGeom>
            <a:blipFill>
              <a:blip r:embed="rId2"/>
              <a:stretch>
                <a:fillRect l="-14672" r="-1467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3FBC48F-FA46-174B-A5F3-06DF752B5DE1}"/>
              </a:ext>
            </a:extLst>
          </p:cNvPr>
          <p:cNvSpPr txBox="1"/>
          <p:nvPr/>
        </p:nvSpPr>
        <p:spPr>
          <a:xfrm>
            <a:off x="4689987" y="658761"/>
            <a:ext cx="33134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Dataset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Actor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Film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Film category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Payment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Store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City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Country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Staff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Customer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Rental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>
              <a:solidFill>
                <a:srgbClr val="0070C0"/>
              </a:solidFill>
            </a:endParaRPr>
          </a:p>
        </p:txBody>
      </p:sp>
      <p:grpSp>
        <p:nvGrpSpPr>
          <p:cNvPr id="12" name="Group 2">
            <a:extLst>
              <a:ext uri="{FF2B5EF4-FFF2-40B4-BE49-F238E27FC236}">
                <a16:creationId xmlns:a16="http://schemas.microsoft.com/office/drawing/2014/main" id="{AAFD4317-E4F5-BF7F-CA29-1FD69666961A}"/>
              </a:ext>
            </a:extLst>
          </p:cNvPr>
          <p:cNvGrpSpPr/>
          <p:nvPr/>
        </p:nvGrpSpPr>
        <p:grpSpPr>
          <a:xfrm>
            <a:off x="68826" y="117987"/>
            <a:ext cx="3987061" cy="6528619"/>
            <a:chOff x="0" y="0"/>
            <a:chExt cx="1477246" cy="1482945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2B813907-8F5F-3AD9-2FD8-78828328561C}"/>
                </a:ext>
              </a:extLst>
            </p:cNvPr>
            <p:cNvSpPr/>
            <p:nvPr/>
          </p:nvSpPr>
          <p:spPr>
            <a:xfrm>
              <a:off x="0" y="0"/>
              <a:ext cx="1477246" cy="1482945"/>
            </a:xfrm>
            <a:custGeom>
              <a:avLst/>
              <a:gdLst/>
              <a:ahLst/>
              <a:cxnLst/>
              <a:rect l="l" t="t" r="r" b="b"/>
              <a:pathLst>
                <a:path w="1477246" h="1482945">
                  <a:moveTo>
                    <a:pt x="32477" y="0"/>
                  </a:moveTo>
                  <a:lnTo>
                    <a:pt x="1444768" y="0"/>
                  </a:lnTo>
                  <a:cubicBezTo>
                    <a:pt x="1462705" y="0"/>
                    <a:pt x="1477246" y="14541"/>
                    <a:pt x="1477246" y="32477"/>
                  </a:cubicBezTo>
                  <a:lnTo>
                    <a:pt x="1477246" y="1450467"/>
                  </a:lnTo>
                  <a:cubicBezTo>
                    <a:pt x="1477246" y="1459081"/>
                    <a:pt x="1473824" y="1467342"/>
                    <a:pt x="1467733" y="1473432"/>
                  </a:cubicBezTo>
                  <a:cubicBezTo>
                    <a:pt x="1461642" y="1479523"/>
                    <a:pt x="1453382" y="1482945"/>
                    <a:pt x="1444768" y="1482945"/>
                  </a:cubicBezTo>
                  <a:lnTo>
                    <a:pt x="32477" y="1482945"/>
                  </a:lnTo>
                  <a:cubicBezTo>
                    <a:pt x="14541" y="1482945"/>
                    <a:pt x="0" y="1468404"/>
                    <a:pt x="0" y="1450467"/>
                  </a:cubicBezTo>
                  <a:lnTo>
                    <a:pt x="0" y="32477"/>
                  </a:lnTo>
                  <a:cubicBezTo>
                    <a:pt x="0" y="14541"/>
                    <a:pt x="14541" y="0"/>
                    <a:pt x="32477" y="0"/>
                  </a:cubicBezTo>
                  <a:close/>
                </a:path>
              </a:pathLst>
            </a:custGeom>
            <a:blipFill>
              <a:blip r:embed="rId2"/>
              <a:stretch>
                <a:fillRect l="-25336" r="-25336"/>
              </a:stretch>
            </a:blipFill>
          </p:spPr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76060E5F-B909-1988-286B-ADDEE49E65A8}"/>
              </a:ext>
            </a:extLst>
          </p:cNvPr>
          <p:cNvSpPr txBox="1"/>
          <p:nvPr/>
        </p:nvSpPr>
        <p:spPr>
          <a:xfrm>
            <a:off x="4689987" y="4158265"/>
            <a:ext cx="37559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0070C0"/>
                </a:solidFill>
              </a:rPr>
              <a:t>Project 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 </a:t>
            </a:r>
            <a:r>
              <a:rPr lang="en-IN" dirty="0">
                <a:solidFill>
                  <a:srgbClr val="0070C0"/>
                </a:solidFill>
              </a:rPr>
              <a:t>customer behaviour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 film inventory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 enhance customer satisfaction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 improve staff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 streamline store operations</a:t>
            </a:r>
            <a:endParaRPr lang="en-IN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766BB0-F7C1-8CDB-77D6-EFDEC9DB57EB}"/>
              </a:ext>
            </a:extLst>
          </p:cNvPr>
          <p:cNvSpPr txBox="1"/>
          <p:nvPr/>
        </p:nvSpPr>
        <p:spPr>
          <a:xfrm>
            <a:off x="353961" y="314632"/>
            <a:ext cx="663185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</a:rPr>
              <a:t>Data Cleaning &amp; Data Transformation</a:t>
            </a:r>
          </a:p>
          <a:p>
            <a:endParaRPr lang="en-IN" sz="3200" b="1" dirty="0">
              <a:solidFill>
                <a:srgbClr val="0070C0"/>
              </a:solidFill>
            </a:endParaRPr>
          </a:p>
          <a:p>
            <a:r>
              <a:rPr lang="en-IN" sz="2400" b="1" dirty="0">
                <a:solidFill>
                  <a:srgbClr val="0070C0"/>
                </a:solidFill>
              </a:rPr>
              <a:t>Data Cleaning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Handled missing values (NULLS replaced/removed).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Fixed incorrect date formats.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Removed duplicate records·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Standardized column names·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Corrected data types (text, date, numeric)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r>
              <a:rPr lang="en-IN" sz="2400" b="1" dirty="0">
                <a:solidFill>
                  <a:srgbClr val="0070C0"/>
                </a:solidFill>
              </a:rPr>
              <a:t>Data Transformation.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Created calculated columns (e.g., Tenure, Manager Name).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Merged and related tables.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Ensured consistency across datasets </a:t>
            </a:r>
          </a:p>
          <a:p>
            <a:endParaRPr lang="en-IN" dirty="0"/>
          </a:p>
          <a:p>
            <a:r>
              <a:rPr lang="en-IN" sz="2400" b="1" dirty="0">
                <a:solidFill>
                  <a:srgbClr val="0070C0"/>
                </a:solidFill>
              </a:rPr>
              <a:t>Data Quality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Improved accuracy and reliability.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Prepared data for analysis and visualization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AFB56-BABB-CF0D-8A02-294B245D4C5E}"/>
              </a:ext>
            </a:extLst>
          </p:cNvPr>
          <p:cNvSpPr txBox="1"/>
          <p:nvPr/>
        </p:nvSpPr>
        <p:spPr>
          <a:xfrm>
            <a:off x="93407" y="5897037"/>
            <a:ext cx="98076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"I cleaned and transformed the data to ensure accuracy, consistency, and readiness for Power BI analysis."</a:t>
            </a:r>
          </a:p>
        </p:txBody>
      </p:sp>
      <p:grpSp>
        <p:nvGrpSpPr>
          <p:cNvPr id="9" name="Group 2">
            <a:extLst>
              <a:ext uri="{FF2B5EF4-FFF2-40B4-BE49-F238E27FC236}">
                <a16:creationId xmlns:a16="http://schemas.microsoft.com/office/drawing/2014/main" id="{7B7FBCC0-6C82-A7F4-0F0F-A3B362DFEE43}"/>
              </a:ext>
            </a:extLst>
          </p:cNvPr>
          <p:cNvGrpSpPr/>
          <p:nvPr/>
        </p:nvGrpSpPr>
        <p:grpSpPr>
          <a:xfrm>
            <a:off x="6334804" y="2321169"/>
            <a:ext cx="2720706" cy="2538909"/>
            <a:chOff x="0" y="0"/>
            <a:chExt cx="893282" cy="879853"/>
          </a:xfrm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EBBBD6EA-794E-715D-6ED6-8B069A5F30E1}"/>
                </a:ext>
              </a:extLst>
            </p:cNvPr>
            <p:cNvSpPr/>
            <p:nvPr/>
          </p:nvSpPr>
          <p:spPr>
            <a:xfrm>
              <a:off x="0" y="0"/>
              <a:ext cx="893282" cy="879853"/>
            </a:xfrm>
            <a:custGeom>
              <a:avLst/>
              <a:gdLst/>
              <a:ahLst/>
              <a:cxnLst/>
              <a:rect l="l" t="t" r="r" b="b"/>
              <a:pathLst>
                <a:path w="893282" h="879853">
                  <a:moveTo>
                    <a:pt x="47435" y="0"/>
                  </a:moveTo>
                  <a:lnTo>
                    <a:pt x="845847" y="0"/>
                  </a:lnTo>
                  <a:cubicBezTo>
                    <a:pt x="872044" y="0"/>
                    <a:pt x="893282" y="21237"/>
                    <a:pt x="893282" y="47435"/>
                  </a:cubicBezTo>
                  <a:lnTo>
                    <a:pt x="893282" y="832419"/>
                  </a:lnTo>
                  <a:cubicBezTo>
                    <a:pt x="893282" y="844999"/>
                    <a:pt x="888284" y="857064"/>
                    <a:pt x="879388" y="865960"/>
                  </a:cubicBezTo>
                  <a:cubicBezTo>
                    <a:pt x="870493" y="874856"/>
                    <a:pt x="858427" y="879853"/>
                    <a:pt x="845847" y="879853"/>
                  </a:cubicBezTo>
                  <a:lnTo>
                    <a:pt x="47435" y="879853"/>
                  </a:lnTo>
                  <a:cubicBezTo>
                    <a:pt x="21237" y="879853"/>
                    <a:pt x="0" y="858616"/>
                    <a:pt x="0" y="832419"/>
                  </a:cubicBezTo>
                  <a:lnTo>
                    <a:pt x="0" y="47435"/>
                  </a:lnTo>
                  <a:cubicBezTo>
                    <a:pt x="0" y="34854"/>
                    <a:pt x="4998" y="22789"/>
                    <a:pt x="13893" y="13893"/>
                  </a:cubicBezTo>
                  <a:cubicBezTo>
                    <a:pt x="22789" y="4998"/>
                    <a:pt x="34854" y="0"/>
                    <a:pt x="47435" y="0"/>
                  </a:cubicBezTo>
                  <a:close/>
                </a:path>
              </a:pathLst>
            </a:custGeom>
            <a:blipFill>
              <a:blip r:embed="rId2"/>
              <a:stretch>
                <a:fillRect l="-23918" r="-2391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2993923" cy="1143000"/>
          </a:xfrm>
        </p:spPr>
        <p:txBody>
          <a:bodyPr>
            <a:normAutofit/>
          </a:bodyPr>
          <a:lstStyle/>
          <a:p>
            <a:r>
              <a:rPr sz="4000" b="1" dirty="0">
                <a:solidFill>
                  <a:srgbClr val="0070C0"/>
                </a:solidFill>
              </a:rPr>
              <a:t>EDA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4677"/>
            <a:ext cx="8229600" cy="1984323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Repeat customers dominate</a:t>
            </a:r>
          </a:p>
          <a:p>
            <a:r>
              <a:rPr dirty="0">
                <a:solidFill>
                  <a:srgbClr val="0070C0"/>
                </a:solidFill>
              </a:rPr>
              <a:t>Top films drive rentals</a:t>
            </a:r>
          </a:p>
          <a:p>
            <a:r>
              <a:rPr dirty="0">
                <a:solidFill>
                  <a:srgbClr val="0070C0"/>
                </a:solidFill>
              </a:rPr>
              <a:t>Revenue varies by category</a:t>
            </a:r>
          </a:p>
        </p:txBody>
      </p:sp>
      <p:pic>
        <p:nvPicPr>
          <p:cNvPr id="2050" name="Picture 2" descr="221 Eda Design Royalty-Free Images, Stock Photos &amp; Pictures ...">
            <a:extLst>
              <a:ext uri="{FF2B5EF4-FFF2-40B4-BE49-F238E27FC236}">
                <a16:creationId xmlns:a16="http://schemas.microsoft.com/office/drawing/2014/main" id="{DB1130B9-8B3E-1025-2654-36B45D05B9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3" b="8901"/>
          <a:stretch>
            <a:fillRect/>
          </a:stretch>
        </p:blipFill>
        <p:spPr bwMode="auto">
          <a:xfrm>
            <a:off x="1199996" y="3704303"/>
            <a:ext cx="6744007" cy="277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3C9F530-7545-7663-593B-BBB8AEBA8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305" y="3419045"/>
            <a:ext cx="6331223" cy="33381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A2D4ED-97E6-E699-A018-DAF12B020591}"/>
              </a:ext>
            </a:extLst>
          </p:cNvPr>
          <p:cNvSpPr txBox="1"/>
          <p:nvPr/>
        </p:nvSpPr>
        <p:spPr>
          <a:xfrm>
            <a:off x="88490" y="68825"/>
            <a:ext cx="59386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</a:rPr>
              <a:t>Data Model (ER Diagram)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B43E5-C807-BFA5-13EA-D24ADEB3A05D}"/>
              </a:ext>
            </a:extLst>
          </p:cNvPr>
          <p:cNvSpPr txBox="1"/>
          <p:nvPr/>
        </p:nvSpPr>
        <p:spPr>
          <a:xfrm>
            <a:off x="265471" y="737419"/>
            <a:ext cx="4729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Data model 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Implemented star schema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8C4F5-FBBD-F2CF-C1CF-8A0EC51F42D6}"/>
              </a:ext>
            </a:extLst>
          </p:cNvPr>
          <p:cNvSpPr txBox="1"/>
          <p:nvPr/>
        </p:nvSpPr>
        <p:spPr>
          <a:xfrm>
            <a:off x="265471" y="1459846"/>
            <a:ext cx="30873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Central Facts table: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Rental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Payments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897B99-B629-42B3-B818-356AFA285ED9}"/>
              </a:ext>
            </a:extLst>
          </p:cNvPr>
          <p:cNvSpPr txBox="1"/>
          <p:nvPr/>
        </p:nvSpPr>
        <p:spPr>
          <a:xfrm>
            <a:off x="265471" y="2383176"/>
            <a:ext cx="29595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Dimensional Tables: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Customer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address, city, country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Film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Film </a:t>
            </a:r>
            <a:r>
              <a:rPr lang="en-US" altLang="en-US" dirty="0">
                <a:solidFill>
                  <a:srgbClr val="0070C0"/>
                </a:solidFill>
                <a:latin typeface="Arial" panose="020B0604020202020204" pitchFamily="34" charset="0"/>
              </a:rPr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Inventory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Staff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70C0"/>
                </a:solidFill>
              </a:rPr>
              <a:t>Store</a:t>
            </a:r>
          </a:p>
          <a:p>
            <a:endParaRPr lang="en-IN" dirty="0">
              <a:solidFill>
                <a:srgbClr val="0070C0"/>
              </a:solidFill>
            </a:endParaRPr>
          </a:p>
          <a:p>
            <a:endParaRPr lang="en-US" altLang="en-US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828608B-8C58-5C71-5525-F19D93F25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47F422-E3FE-6C31-0461-B6B6DC54A5F6}"/>
              </a:ext>
            </a:extLst>
          </p:cNvPr>
          <p:cNvSpPr txBox="1"/>
          <p:nvPr/>
        </p:nvSpPr>
        <p:spPr>
          <a:xfrm>
            <a:off x="4572000" y="418421"/>
            <a:ext cx="4606412" cy="254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55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Relationships</a:t>
            </a:r>
          </a:p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• One-to-Many relationships used</a:t>
            </a:r>
          </a:p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• Connected via primary and foreign keys</a:t>
            </a:r>
          </a:p>
          <a:p>
            <a:pPr algn="l">
              <a:lnSpc>
                <a:spcPts val="3915"/>
              </a:lnSpc>
              <a:spcBef>
                <a:spcPct val="0"/>
              </a:spcBef>
            </a:pPr>
            <a:r>
              <a:rPr lang="en-US" sz="1800" b="1" dirty="0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• Ensures efficient data filtering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14408"/>
            <a:ext cx="4498258" cy="114300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</a:rPr>
              <a:t>Dashboard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69" y="738541"/>
            <a:ext cx="2315497" cy="481780"/>
          </a:xfrm>
        </p:spPr>
        <p:txBody>
          <a:bodyPr>
            <a:normAutofit/>
          </a:bodyPr>
          <a:lstStyle/>
          <a:p>
            <a:r>
              <a:rPr sz="1800" b="1" dirty="0">
                <a:solidFill>
                  <a:srgbClr val="0070C0"/>
                </a:solidFill>
              </a:rPr>
              <a:t>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C8F37-0821-4831-E60F-0AA0FC7AE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69" y="1098895"/>
            <a:ext cx="7384028" cy="24898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096AD1-CE6D-B9EE-7267-07DD5E7D5212}"/>
              </a:ext>
            </a:extLst>
          </p:cNvPr>
          <p:cNvSpPr txBox="1"/>
          <p:nvPr/>
        </p:nvSpPr>
        <p:spPr>
          <a:xfrm>
            <a:off x="263011" y="3499303"/>
            <a:ext cx="770849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Key features</a:t>
            </a:r>
            <a:r>
              <a:rPr lang="en-IN" sz="2000" b="1" dirty="0"/>
              <a:t>: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Revenue &amp; business Performance:</a:t>
            </a:r>
          </a:p>
          <a:p>
            <a:r>
              <a:rPr lang="en-IN" dirty="0">
                <a:solidFill>
                  <a:srgbClr val="0070C0"/>
                </a:solidFill>
              </a:rPr>
              <a:t>Total Revenue is 67.41k showing overall business strength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Customer Behaviour:</a:t>
            </a:r>
          </a:p>
          <a:p>
            <a:r>
              <a:rPr lang="en-IN" dirty="0">
                <a:solidFill>
                  <a:srgbClr val="0070C0"/>
                </a:solidFill>
              </a:rPr>
              <a:t>96.28% customers are repeat customers showing strong customer retention.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Top performing categories:</a:t>
            </a:r>
          </a:p>
          <a:p>
            <a:r>
              <a:rPr lang="en-IN" dirty="0">
                <a:solidFill>
                  <a:srgbClr val="0070C0"/>
                </a:solidFill>
              </a:rPr>
              <a:t>Sports, sci-fi, Animation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Low performing categories:</a:t>
            </a:r>
          </a:p>
          <a:p>
            <a:r>
              <a:rPr lang="en-IN" dirty="0">
                <a:solidFill>
                  <a:srgbClr val="0070C0"/>
                </a:solidFill>
              </a:rPr>
              <a:t>Music, travel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Top revenue countries:</a:t>
            </a:r>
          </a:p>
          <a:p>
            <a:r>
              <a:rPr lang="en-IN" dirty="0">
                <a:solidFill>
                  <a:srgbClr val="0070C0"/>
                </a:solidFill>
              </a:rPr>
              <a:t>India, </a:t>
            </a:r>
            <a:r>
              <a:rPr lang="en-IN" dirty="0" err="1">
                <a:solidFill>
                  <a:srgbClr val="0070C0"/>
                </a:solidFill>
              </a:rPr>
              <a:t>china</a:t>
            </a:r>
            <a:r>
              <a:rPr lang="en-IN" dirty="0">
                <a:solidFill>
                  <a:srgbClr val="0070C0"/>
                </a:solidFill>
              </a:rPr>
              <a:t>, united states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0687C-7402-11F2-C352-C1FCC5FF51A1}"/>
              </a:ext>
            </a:extLst>
          </p:cNvPr>
          <p:cNvSpPr txBox="1"/>
          <p:nvPr/>
        </p:nvSpPr>
        <p:spPr>
          <a:xfrm>
            <a:off x="226142" y="98323"/>
            <a:ext cx="2900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• Customer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0946C3-5F53-6794-57A4-C59C6222A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745842"/>
            <a:ext cx="8396749" cy="3173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3AB49A-4D41-4C9E-73E8-6C5BA0C638A2}"/>
              </a:ext>
            </a:extLst>
          </p:cNvPr>
          <p:cNvSpPr txBox="1"/>
          <p:nvPr/>
        </p:nvSpPr>
        <p:spPr>
          <a:xfrm>
            <a:off x="226142" y="4166419"/>
            <a:ext cx="805262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Key Features: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Customer segmentation:</a:t>
            </a:r>
          </a:p>
          <a:p>
            <a:r>
              <a:rPr lang="en-IN" dirty="0">
                <a:solidFill>
                  <a:srgbClr val="0070C0"/>
                </a:solidFill>
              </a:rPr>
              <a:t>Repeat customers are approximately 96%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Top customers:</a:t>
            </a:r>
          </a:p>
          <a:p>
            <a:r>
              <a:rPr lang="en-IN" dirty="0">
                <a:solidFill>
                  <a:srgbClr val="0070C0"/>
                </a:solidFill>
              </a:rPr>
              <a:t>Few customers contribute highest revenue (pareto principle 80/20 rule)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Geographic distribution:</a:t>
            </a:r>
          </a:p>
          <a:p>
            <a:r>
              <a:rPr lang="en-IN" dirty="0">
                <a:solidFill>
                  <a:srgbClr val="0070C0"/>
                </a:solidFill>
              </a:rPr>
              <a:t>Customers spread globally</a:t>
            </a:r>
          </a:p>
        </p:txBody>
      </p:sp>
    </p:spTree>
    <p:extLst>
      <p:ext uri="{BB962C8B-B14F-4D97-AF65-F5344CB8AC3E}">
        <p14:creationId xmlns:p14="http://schemas.microsoft.com/office/powerpoint/2010/main" val="1131751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82354A-7310-639F-46DF-DA145C5A768A}"/>
              </a:ext>
            </a:extLst>
          </p:cNvPr>
          <p:cNvSpPr txBox="1"/>
          <p:nvPr/>
        </p:nvSpPr>
        <p:spPr>
          <a:xfrm>
            <a:off x="157316" y="157316"/>
            <a:ext cx="3382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• Film Inventory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E1454-21A2-F1E7-CAE9-F84A1493C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1" y="557426"/>
            <a:ext cx="8131277" cy="30326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FE0666-3EE9-1700-4109-906619504113}"/>
              </a:ext>
            </a:extLst>
          </p:cNvPr>
          <p:cNvSpPr txBox="1"/>
          <p:nvPr/>
        </p:nvSpPr>
        <p:spPr>
          <a:xfrm>
            <a:off x="157316" y="3590056"/>
            <a:ext cx="848523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Key Features: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Film Performance:</a:t>
            </a:r>
          </a:p>
          <a:p>
            <a:r>
              <a:rPr lang="en-IN" dirty="0">
                <a:solidFill>
                  <a:srgbClr val="0070C0"/>
                </a:solidFill>
              </a:rPr>
              <a:t>Top film are zorro ark, Ventilation, etc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Inventory vs demand:</a:t>
            </a:r>
          </a:p>
          <a:p>
            <a:r>
              <a:rPr lang="en-IN" dirty="0">
                <a:solidFill>
                  <a:srgbClr val="0070C0"/>
                </a:solidFill>
              </a:rPr>
              <a:t>More inventory → more rentals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Language Analysis:</a:t>
            </a:r>
          </a:p>
          <a:p>
            <a:r>
              <a:rPr lang="en-IN" dirty="0">
                <a:solidFill>
                  <a:srgbClr val="0070C0"/>
                </a:solidFill>
              </a:rPr>
              <a:t>English dominates rentals. Customer preference is language-driven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Category Revenue:</a:t>
            </a:r>
          </a:p>
          <a:p>
            <a:r>
              <a:rPr lang="en-US" sz="2000" b="1" dirty="0">
                <a:solidFill>
                  <a:srgbClr val="0070C0"/>
                </a:solidFill>
              </a:rPr>
              <a:t>Top categories:</a:t>
            </a:r>
          </a:p>
          <a:p>
            <a:r>
              <a:rPr lang="en-US" dirty="0">
                <a:solidFill>
                  <a:srgbClr val="0070C0"/>
                </a:solidFill>
              </a:rPr>
              <a:t>Sports, Comedy, Sci-Fi. Revenue concentrated in few genres</a:t>
            </a:r>
            <a:br>
              <a:rPr lang="en-IN" dirty="0">
                <a:solidFill>
                  <a:srgbClr val="0070C0"/>
                </a:solidFill>
              </a:rPr>
            </a:br>
            <a:endParaRPr lang="en-IN" dirty="0">
              <a:solidFill>
                <a:srgbClr val="0070C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8637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728341-7AC8-E12B-D293-19910DD3BD0F}"/>
              </a:ext>
            </a:extLst>
          </p:cNvPr>
          <p:cNvSpPr txBox="1"/>
          <p:nvPr/>
        </p:nvSpPr>
        <p:spPr>
          <a:xfrm>
            <a:off x="127819" y="108155"/>
            <a:ext cx="42032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70C0"/>
                </a:solidFill>
              </a:rPr>
              <a:t>• STAFF &amp; OPERATIONS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7A931-D924-5E78-1B57-D5E19BFDB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10" y="477486"/>
            <a:ext cx="8377083" cy="34715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B9C00D-D365-FBFC-D38E-FBED5FA93D46}"/>
              </a:ext>
            </a:extLst>
          </p:cNvPr>
          <p:cNvSpPr txBox="1"/>
          <p:nvPr/>
        </p:nvSpPr>
        <p:spPr>
          <a:xfrm>
            <a:off x="127819" y="3949078"/>
            <a:ext cx="856389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70C0"/>
                </a:solidFill>
              </a:rPr>
              <a:t>Key features: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Staff Performance:</a:t>
            </a:r>
          </a:p>
          <a:p>
            <a:r>
              <a:rPr lang="en-US" dirty="0">
                <a:solidFill>
                  <a:srgbClr val="0070C0"/>
                </a:solidFill>
              </a:rPr>
              <a:t>Staff ID 2 generates slightly higher revenue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Rental Timing:</a:t>
            </a:r>
          </a:p>
          <a:p>
            <a:r>
              <a:rPr lang="en-US" dirty="0">
                <a:solidFill>
                  <a:srgbClr val="0070C0"/>
                </a:solidFill>
              </a:rPr>
              <a:t>Rentals are consistent throughout the day. Slight peak at early hours (0–2)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Store Performance:</a:t>
            </a:r>
          </a:p>
          <a:p>
            <a:r>
              <a:rPr lang="en-US" dirty="0">
                <a:solidFill>
                  <a:srgbClr val="0070C0"/>
                </a:solidFill>
              </a:rPr>
              <a:t>Store ID 2 performs better than Store 1.</a:t>
            </a:r>
          </a:p>
          <a:p>
            <a:r>
              <a:rPr lang="en-IN" sz="2000" b="1" dirty="0">
                <a:solidFill>
                  <a:srgbClr val="0070C0"/>
                </a:solidFill>
              </a:rPr>
              <a:t>Rental Duration:</a:t>
            </a:r>
          </a:p>
          <a:p>
            <a:r>
              <a:rPr lang="en-IN" dirty="0">
                <a:solidFill>
                  <a:srgbClr val="0070C0"/>
                </a:solidFill>
              </a:rPr>
              <a:t>Average rental duration ≈ 5</a:t>
            </a:r>
            <a:r>
              <a:rPr lang="en-IN" b="1" dirty="0">
                <a:solidFill>
                  <a:srgbClr val="0070C0"/>
                </a:solidFill>
              </a:rPr>
              <a:t> </a:t>
            </a:r>
            <a:r>
              <a:rPr lang="en-IN" dirty="0">
                <a:solidFill>
                  <a:srgbClr val="0070C0"/>
                </a:solidFill>
              </a:rPr>
              <a:t>days</a:t>
            </a:r>
            <a:r>
              <a:rPr lang="en-IN" b="1" dirty="0">
                <a:solidFill>
                  <a:srgbClr val="0070C0"/>
                </a:solidFill>
              </a:rPr>
              <a:t>.</a:t>
            </a:r>
            <a:endParaRPr 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373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EB29C57-0EF9-A001-1FBE-254A0DCE231A}"/>
              </a:ext>
            </a:extLst>
          </p:cNvPr>
          <p:cNvSpPr txBox="1"/>
          <p:nvPr/>
        </p:nvSpPr>
        <p:spPr>
          <a:xfrm>
            <a:off x="314632" y="216310"/>
            <a:ext cx="7010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70C0"/>
                </a:solidFill>
              </a:rPr>
              <a:t>Conclusion &amp; Key Takeaways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9AE95-E745-2B90-E5FF-4EA2DC33EC82}"/>
              </a:ext>
            </a:extLst>
          </p:cNvPr>
          <p:cNvSpPr txBox="1"/>
          <p:nvPr/>
        </p:nvSpPr>
        <p:spPr>
          <a:xfrm>
            <a:off x="462116" y="983226"/>
            <a:ext cx="734469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Business Takeaways</a:t>
            </a:r>
          </a:p>
          <a:p>
            <a:r>
              <a:rPr lang="en-US" dirty="0">
                <a:solidFill>
                  <a:srgbClr val="0070C0"/>
                </a:solidFill>
              </a:rPr>
              <a:t>Strong customer retention model</a:t>
            </a:r>
          </a:p>
          <a:p>
            <a:r>
              <a:rPr lang="en-US" b="1" dirty="0">
                <a:solidFill>
                  <a:srgbClr val="0070C0"/>
                </a:solidFill>
              </a:rPr>
              <a:t>Revenue driven by:</a:t>
            </a:r>
          </a:p>
          <a:p>
            <a:r>
              <a:rPr lang="en-US" dirty="0">
                <a:solidFill>
                  <a:srgbClr val="0070C0"/>
                </a:solidFill>
              </a:rPr>
              <a:t>      . Top customers</a:t>
            </a:r>
          </a:p>
          <a:p>
            <a:r>
              <a:rPr lang="en-US" dirty="0">
                <a:solidFill>
                  <a:srgbClr val="0070C0"/>
                </a:solidFill>
              </a:rPr>
              <a:t>      · Top categories</a:t>
            </a:r>
          </a:p>
          <a:p>
            <a:r>
              <a:rPr lang="en-US" dirty="0">
                <a:solidFill>
                  <a:srgbClr val="0070C0"/>
                </a:solidFill>
              </a:rPr>
              <a:t>Inventory plays critical role in demand</a:t>
            </a:r>
          </a:p>
          <a:p>
            <a:r>
              <a:rPr lang="en-US" dirty="0">
                <a:solidFill>
                  <a:srgbClr val="0070C0"/>
                </a:solidFill>
              </a:rPr>
              <a:t>Business shows seasonal trends</a:t>
            </a:r>
          </a:p>
          <a:p>
            <a:r>
              <a:rPr lang="en-US" dirty="0">
                <a:solidFill>
                  <a:srgbClr val="0070C0"/>
                </a:solidFill>
              </a:rPr>
              <a:t>Geographic expansion opportunities exist</a:t>
            </a:r>
            <a:endParaRPr lang="en-IN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510</Words>
  <Application>Microsoft Office PowerPoint</Application>
  <PresentationFormat>On-screen Show (4:3)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Canva Sans Bold</vt:lpstr>
      <vt:lpstr>Inter</vt:lpstr>
      <vt:lpstr>Inter Bold</vt:lpstr>
      <vt:lpstr>Office Theme</vt:lpstr>
      <vt:lpstr>Power BI Dashboard Overview</vt:lpstr>
      <vt:lpstr>PowerPoint Presentation</vt:lpstr>
      <vt:lpstr>INTRODUCTION</vt:lpstr>
      <vt:lpstr>PowerPoint Presentation</vt:lpstr>
      <vt:lpstr>PowerPoint Presentation</vt:lpstr>
      <vt:lpstr>EDA Insights</vt:lpstr>
      <vt:lpstr>PowerPoint Presentation</vt:lpstr>
      <vt:lpstr>Dashboard Pages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jagi pradip rao</cp:lastModifiedBy>
  <cp:revision>2</cp:revision>
  <dcterms:created xsi:type="dcterms:W3CDTF">2013-01-27T09:14:16Z</dcterms:created>
  <dcterms:modified xsi:type="dcterms:W3CDTF">2026-04-05T14:52:35Z</dcterms:modified>
  <cp:category/>
</cp:coreProperties>
</file>